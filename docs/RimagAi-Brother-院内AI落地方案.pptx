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B4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8288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Microsoft YaHei"/>
              </a:defRPr>
            </a:pPr>
            <a:r>
              <a:t>RimagAi Brother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92608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06B6D4"/>
                </a:solidFill>
                <a:latin typeface="Microsoft YaHei"/>
              </a:defRPr>
            </a:pPr>
            <a:r>
              <a:t>医疗认知操作系统 MCOS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41148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  <a:latin typeface="Microsoft YaHei"/>
              </a:defRPr>
            </a:pPr>
            <a:r>
              <a:t>告别单点 AI 插件，构建系统级医疗人工智能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56692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4748B"/>
                </a:solidFill>
                <a:latin typeface="Microsoft YaHei"/>
              </a:defRPr>
            </a:pPr>
            <a:r>
              <a:t>院内 AI 落地方案 ·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E1B4B"/>
                </a:solidFill>
                <a:latin typeface="Microsoft YaHei"/>
              </a:defRPr>
            </a:pPr>
            <a:r>
              <a:t>医院 AI 的三大困境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748B"/>
                </a:solidFill>
                <a:latin typeface="Microsoft YaHei"/>
              </a:defRPr>
            </a:pPr>
            <a:r>
              <a:t>核心判断：医疗 AI 的主要矛盾已从"模型能力不足"转变为"架构与治理能力缺位"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3291840" cy="3200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52400" lIns="152400" rIns="152400"/>
          <a:lstStyle/>
          <a:p>
            <a:pPr algn="ctr">
              <a:defRPr sz="1300" b="1">
                <a:solidFill>
                  <a:srgbClr val="6366F1"/>
                </a:solidFill>
                <a:latin typeface="Microsoft YaHei"/>
              </a:defRPr>
            </a:pPr>
            <a:r>
              <a:t>工具孤岛</a:t>
            </a:r>
          </a:p>
          <a:p>
            <a:pPr>
              <a:spcBef>
                <a:spcPts val="600"/>
              </a:spcBef>
              <a:defRPr sz="1100">
                <a:solidFill>
                  <a:srgbClr val="64748B"/>
                </a:solidFill>
                <a:latin typeface="Microsoft YaHei"/>
              </a:defRPr>
            </a:pPr>
            <a:r>
              <a:t>各科室独立采购 AI 工具，彼此不通</a:t>
            </a:r>
            <a:br/>
            <a:r>
              <a:t>数据无法流转，经验无法共享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828800"/>
            <a:ext cx="3291840" cy="3200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52400" lIns="152400" rIns="152400"/>
          <a:lstStyle/>
          <a:p>
            <a:pPr algn="ctr">
              <a:defRPr sz="1300" b="1">
                <a:solidFill>
                  <a:srgbClr val="6366F1"/>
                </a:solidFill>
                <a:latin typeface="Microsoft YaHei"/>
              </a:defRPr>
            </a:pPr>
            <a:r>
              <a:t>治理真空</a:t>
            </a:r>
          </a:p>
          <a:p>
            <a:pPr>
              <a:spcBef>
                <a:spcPts val="600"/>
              </a:spcBef>
              <a:defRPr sz="1100">
                <a:solidFill>
                  <a:srgbClr val="64748B"/>
                </a:solidFill>
                <a:latin typeface="Microsoft YaHei"/>
              </a:defRPr>
            </a:pPr>
            <a:r>
              <a:t>AI 生成内容无统一审计</a:t>
            </a:r>
            <a:br/>
            <a:r>
              <a:t>无法追溯、无法问责、无法合规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1828800"/>
            <a:ext cx="3291840" cy="3200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52400" lIns="152400" rIns="152400"/>
          <a:lstStyle/>
          <a:p>
            <a:pPr algn="ctr">
              <a:defRPr sz="1300" b="1">
                <a:solidFill>
                  <a:srgbClr val="6366F1"/>
                </a:solidFill>
                <a:latin typeface="Microsoft YaHei"/>
              </a:defRPr>
            </a:pPr>
            <a:r>
              <a:t>能力不可积累</a:t>
            </a:r>
          </a:p>
          <a:p>
            <a:pPr>
              <a:spcBef>
                <a:spcPts val="600"/>
              </a:spcBef>
              <a:defRPr sz="1100">
                <a:solidFill>
                  <a:srgbClr val="64748B"/>
                </a:solidFill>
                <a:latin typeface="Microsoft YaHei"/>
              </a:defRPr>
            </a:pPr>
            <a:r>
              <a:t>医生反馈无法沉淀为组织级知识</a:t>
            </a:r>
            <a:br/>
            <a:r>
              <a:t>系统越用越旧，而非越用越懂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4864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6366F1"/>
                </a:solidFill>
                <a:latin typeface="Microsoft YaHei"/>
              </a:defRPr>
            </a:pPr>
            <a:r>
              <a:t>→ 医院需要的不是更多 AI 工具，而是一个统一的智能·认知底座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E1B4B"/>
                </a:solidFill>
                <a:latin typeface="Microsoft YaHei"/>
              </a:defRPr>
            </a:pPr>
            <a:r>
              <a:t>MCOS 六层架构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748B"/>
                </a:solidFill>
                <a:latin typeface="Microsoft YaHei"/>
              </a:defRPr>
            </a:pPr>
            <a:r>
              <a:t>医院现有系统 (HIS/EMR/PACS/RIS/LIS) → MCOS 认知运行层 → AI 能力层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645920"/>
            <a:ext cx="10058400" cy="640080"/>
          </a:xfrm>
          <a:prstGeom prst="roundRect">
            <a:avLst/>
          </a:prstGeom>
          <a:solidFill>
            <a:srgbClr val="F8FAFC"/>
          </a:solidFill>
          <a:ln w="2540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3200"/>
          <a:lstStyle/>
          <a:p>
            <a:pPr algn="ctr">
              <a:defRPr sz="1400" b="1">
                <a:solidFill>
                  <a:srgbClr val="1E1B4B"/>
                </a:solidFill>
                <a:latin typeface="Microsoft YaHei"/>
              </a:defRPr>
            </a:pPr>
            <a:r>
              <a:t>L6 进化层  —  经验萃取、反馈学习、技能优化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173736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4748B"/>
                </a:solidFill>
                <a:latin typeface="Microsoft YaHei"/>
              </a:defRPr>
            </a:pPr>
            <a:r>
              <a:t>[目标态]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2423160"/>
            <a:ext cx="10058400" cy="640080"/>
          </a:xfrm>
          <a:prstGeom prst="roundRect">
            <a:avLst/>
          </a:prstGeom>
          <a:solidFill>
            <a:srgbClr val="F8FAFC"/>
          </a:solidFill>
          <a:ln w="254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3200"/>
          <a:lstStyle/>
          <a:p>
            <a:pPr algn="ctr">
              <a:defRPr sz="1400" b="1">
                <a:solidFill>
                  <a:srgbClr val="1E1B4B"/>
                </a:solidFill>
                <a:latin typeface="Microsoft YaHei"/>
              </a:defRPr>
            </a:pPr>
            <a:r>
              <a:t>L5 治理层  —  权限分级、审计链、风险控制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251460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06B6D4"/>
                </a:solidFill>
                <a:latin typeface="Microsoft YaHei"/>
              </a:defRPr>
            </a:pPr>
            <a:r>
              <a:t>[建设中]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3200400"/>
            <a:ext cx="10058400" cy="640080"/>
          </a:xfrm>
          <a:prstGeom prst="roundRect">
            <a:avLst/>
          </a:prstGeom>
          <a:solidFill>
            <a:srgbClr val="F8FAFC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3200"/>
          <a:lstStyle/>
          <a:p>
            <a:pPr algn="ctr">
              <a:defRPr sz="1400" b="1">
                <a:solidFill>
                  <a:srgbClr val="1E1B4B"/>
                </a:solidFill>
                <a:latin typeface="Microsoft YaHei"/>
              </a:defRPr>
            </a:pPr>
            <a:r>
              <a:t>L4 执行层  —  建议、草稿、预填、受控写回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329184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10B981"/>
                </a:solidFill>
                <a:latin typeface="Microsoft YaHei"/>
              </a:defRPr>
            </a:pPr>
            <a:r>
              <a:t>[已验证]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3977639"/>
            <a:ext cx="10058400" cy="640080"/>
          </a:xfrm>
          <a:prstGeom prst="roundRect">
            <a:avLst/>
          </a:prstGeom>
          <a:solidFill>
            <a:srgbClr val="F8FAFC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3200"/>
          <a:lstStyle/>
          <a:p>
            <a:pPr algn="ctr">
              <a:defRPr sz="1400" b="1">
                <a:solidFill>
                  <a:srgbClr val="1E1B4B"/>
                </a:solidFill>
                <a:latin typeface="Microsoft YaHei"/>
              </a:defRPr>
            </a:pPr>
            <a:r>
              <a:t>L3 认知层  —  意图识别、推理、规划、工具调用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0" y="4069079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10B981"/>
                </a:solidFill>
                <a:latin typeface="Microsoft YaHei"/>
              </a:defRPr>
            </a:pPr>
            <a:r>
              <a:t>[已验证]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4754880"/>
            <a:ext cx="10058400" cy="640080"/>
          </a:xfrm>
          <a:prstGeom prst="roundRect">
            <a:avLst/>
          </a:prstGeom>
          <a:solidFill>
            <a:srgbClr val="F8FAFC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3200"/>
          <a:lstStyle/>
          <a:p>
            <a:pPr algn="ctr">
              <a:defRPr sz="1400" b="1">
                <a:solidFill>
                  <a:srgbClr val="1E1B4B"/>
                </a:solidFill>
                <a:latin typeface="Microsoft YaHei"/>
              </a:defRPr>
            </a:pPr>
            <a:r>
              <a:t>L2 上下文层  —  患者纵向/当前/场景工作流上下文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0" y="484632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10B981"/>
                </a:solidFill>
                <a:latin typeface="Microsoft YaHei"/>
              </a:defRPr>
            </a:pPr>
            <a:r>
              <a:t>[已验证]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5532120"/>
            <a:ext cx="10058400" cy="640080"/>
          </a:xfrm>
          <a:prstGeom prst="roundRect">
            <a:avLst/>
          </a:prstGeom>
          <a:solidFill>
            <a:srgbClr val="F8FAFC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3200"/>
          <a:lstStyle/>
          <a:p>
            <a:pPr algn="ctr">
              <a:defRPr sz="1400" b="1">
                <a:solidFill>
                  <a:srgbClr val="1E1B4B"/>
                </a:solidFill>
                <a:latin typeface="Microsoft YaHei"/>
              </a:defRPr>
            </a:pPr>
            <a:r>
              <a:t>L1 感知层  —  多模态信号采集与预处理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0" y="562356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10B981"/>
                </a:solidFill>
                <a:latin typeface="Microsoft YaHei"/>
              </a:defRPr>
            </a:pPr>
            <a:r>
              <a:t>[已验证]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E1B4B"/>
                </a:solidFill>
                <a:latin typeface="Microsoft YaHei"/>
              </a:defRPr>
            </a:pPr>
            <a:r>
              <a:t>8 大核心产品 · 3 科室全覆盖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6366F1"/>
                </a:solidFill>
                <a:latin typeface="Microsoft YaHei"/>
              </a:defRPr>
            </a:pPr>
            <a:r>
              <a:t>临床科室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920240"/>
            <a:ext cx="3474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1E1B4B"/>
                </a:solidFill>
                <a:latin typeface="Microsoft YaHei"/>
              </a:defRPr>
            </a:pPr>
            <a:r>
              <a:t>• CDSS 决策支持 — 分阶段推理，显式不确定性</a:t>
            </a:r>
          </a:p>
          <a:p>
            <a:pPr>
              <a:spcAft>
                <a:spcPts val="600"/>
              </a:spcAft>
              <a:defRPr sz="1200">
                <a:solidFill>
                  <a:srgbClr val="1E1B4B"/>
                </a:solidFill>
                <a:latin typeface="Microsoft YaHei"/>
              </a:defRPr>
            </a:pPr>
            <a:r>
              <a:t>• 智能病历录入 — 语音+截屏+文字三通道并行</a:t>
            </a:r>
          </a:p>
          <a:p>
            <a:pPr>
              <a:spcAft>
                <a:spcPts val="600"/>
              </a:spcAft>
              <a:defRPr sz="1200">
                <a:solidFill>
                  <a:srgbClr val="1E1B4B"/>
                </a:solidFill>
                <a:latin typeface="Microsoft YaHei"/>
              </a:defRPr>
            </a:pPr>
            <a:r>
              <a:t>• DRG 费用预警 — 医嘱前置拦截，实时合规检查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137160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6366F1"/>
                </a:solidFill>
                <a:latin typeface="Microsoft YaHei"/>
              </a:defRPr>
            </a:pPr>
            <a:r>
              <a:t>影像科室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0" y="1920240"/>
            <a:ext cx="3474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1E1B4B"/>
                </a:solidFill>
                <a:latin typeface="Microsoft YaHei"/>
              </a:defRPr>
            </a:pPr>
            <a:r>
              <a:t>• 智能报告生成 — 语音控制+DICOM集成，效率提升60%+</a:t>
            </a:r>
          </a:p>
          <a:p>
            <a:pPr>
              <a:spcAft>
                <a:spcPts val="600"/>
              </a:spcAft>
              <a:defRPr sz="1200">
                <a:solidFill>
                  <a:srgbClr val="1E1B4B"/>
                </a:solidFill>
                <a:latin typeface="Microsoft YaHei"/>
              </a:defRPr>
            </a:pPr>
            <a:r>
              <a:t>• 双重质控 — 规则引擎+大模型语义质控</a:t>
            </a:r>
          </a:p>
          <a:p>
            <a:pPr>
              <a:spcAft>
                <a:spcPts val="600"/>
              </a:spcAft>
              <a:defRPr sz="1200">
                <a:solidFill>
                  <a:srgbClr val="1E1B4B"/>
                </a:solidFill>
                <a:latin typeface="Microsoft YaHei"/>
              </a:defRPr>
            </a:pPr>
            <a:r>
              <a:t>• ACRAC 检查推荐 — 基于ACR准则，覆盖200+场景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0" y="137160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6366F1"/>
                </a:solidFill>
                <a:latin typeface="Microsoft YaHei"/>
              </a:defRPr>
            </a:pPr>
            <a:r>
              <a:t>信息科室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0" y="1920240"/>
            <a:ext cx="3474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1E1B4B"/>
                </a:solidFill>
                <a:latin typeface="Microsoft YaHei"/>
              </a:defRPr>
            </a:pPr>
            <a:r>
              <a:t>• 院内数据智能体 — 自然语言查询+权限矩阵</a:t>
            </a:r>
          </a:p>
          <a:p>
            <a:pPr>
              <a:spcAft>
                <a:spcPts val="600"/>
              </a:spcAft>
              <a:defRPr sz="1200">
                <a:solidFill>
                  <a:srgbClr val="1E1B4B"/>
                </a:solidFill>
                <a:latin typeface="Microsoft YaHei"/>
              </a:defRPr>
            </a:pPr>
            <a:r>
              <a:t>• 病历内涵质控 — 后台自动轮询+问题分级推送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E1B4B"/>
                </a:solidFill>
                <a:latin typeface="Microsoft YaHei"/>
              </a:defRPr>
            </a:pPr>
            <a:r>
              <a:t>CDSS 智能临床决策支持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4748B"/>
                </a:solidFill>
                <a:latin typeface="Microsoft YaHei"/>
              </a:defRPr>
            </a:pPr>
            <a:r>
              <a:t>分阶段推理 · 显式不确定性 · 依据关联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256032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52400" lIns="152400" rIns="152400"/>
          <a:lstStyle/>
          <a:p>
            <a:pPr algn="ctr">
              <a:defRPr sz="1300" b="1">
                <a:solidFill>
                  <a:srgbClr val="6366F1"/>
                </a:solidFill>
                <a:latin typeface="Microsoft YaHei"/>
              </a:defRPr>
            </a:pPr>
            <a:r>
              <a:t>① 诊断推理</a:t>
            </a:r>
          </a:p>
          <a:p>
            <a:pPr>
              <a:spcBef>
                <a:spcPts val="600"/>
              </a:spcBef>
              <a:defRPr sz="1100">
                <a:solidFill>
                  <a:srgbClr val="64748B"/>
                </a:solidFill>
                <a:latin typeface="Microsoft YaHei"/>
              </a:defRPr>
            </a:pPr>
            <a:r>
              <a:t>生成鉴别诊断列表</a:t>
            </a:r>
            <a:br/>
            <a:r>
              <a:t>置信度排序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566160" y="2011680"/>
            <a:ext cx="256032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52400" lIns="152400" rIns="152400"/>
          <a:lstStyle/>
          <a:p>
            <a:pPr algn="ctr">
              <a:defRPr sz="1300" b="1">
                <a:solidFill>
                  <a:srgbClr val="6366F1"/>
                </a:solidFill>
                <a:latin typeface="Microsoft YaHei"/>
              </a:defRPr>
            </a:pPr>
            <a:r>
              <a:t>② 检查建议</a:t>
            </a:r>
          </a:p>
          <a:p>
            <a:pPr>
              <a:spcBef>
                <a:spcPts val="600"/>
              </a:spcBef>
              <a:defRPr sz="1100">
                <a:solidFill>
                  <a:srgbClr val="64748B"/>
                </a:solidFill>
                <a:latin typeface="Microsoft YaHei"/>
              </a:defRPr>
            </a:pPr>
            <a:r>
              <a:t>推荐必要检查项目</a:t>
            </a:r>
            <a:br/>
            <a:r>
              <a:t>ACR适宜性等级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2011680"/>
            <a:ext cx="256032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52400" lIns="152400" rIns="152400"/>
          <a:lstStyle/>
          <a:p>
            <a:pPr algn="ctr">
              <a:defRPr sz="1300" b="1">
                <a:solidFill>
                  <a:srgbClr val="6366F1"/>
                </a:solidFill>
                <a:latin typeface="Microsoft YaHei"/>
              </a:defRPr>
            </a:pPr>
            <a:r>
              <a:t>③ 用药方案</a:t>
            </a:r>
          </a:p>
          <a:p>
            <a:pPr>
              <a:spcBef>
                <a:spcPts val="600"/>
              </a:spcBef>
              <a:defRPr sz="1100">
                <a:solidFill>
                  <a:srgbClr val="64748B"/>
                </a:solidFill>
                <a:latin typeface="Microsoft YaHei"/>
              </a:defRPr>
            </a:pPr>
            <a:r>
              <a:t>结合诊断推荐用药</a:t>
            </a:r>
            <a:br/>
            <a:r>
              <a:t>禁忌+相互作用检查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235440" y="2011680"/>
            <a:ext cx="256032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52400" lIns="152400" rIns="152400"/>
          <a:lstStyle/>
          <a:p>
            <a:pPr algn="ctr">
              <a:defRPr sz="1300" b="1">
                <a:solidFill>
                  <a:srgbClr val="6366F1"/>
                </a:solidFill>
                <a:latin typeface="Microsoft YaHei"/>
              </a:defRPr>
            </a:pPr>
            <a:r>
              <a:t>④ 处置计划</a:t>
            </a:r>
          </a:p>
          <a:p>
            <a:pPr>
              <a:spcBef>
                <a:spcPts val="600"/>
              </a:spcBef>
              <a:defRPr sz="1100">
                <a:solidFill>
                  <a:srgbClr val="64748B"/>
                </a:solidFill>
                <a:latin typeface="Microsoft YaHei"/>
              </a:defRPr>
            </a:pPr>
            <a:r>
              <a:t>综合处置建议</a:t>
            </a:r>
            <a:br/>
            <a:r>
              <a:t>含随访计划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75488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1E1B4B"/>
                </a:solidFill>
                <a:latin typeface="Microsoft YaHei"/>
              </a:defRPr>
            </a:pPr>
            <a:r>
              <a:t>• 每个推荐附带置信度评分</a:t>
            </a:r>
          </a:p>
          <a:p>
            <a:pPr>
              <a:spcAft>
                <a:spcPts val="600"/>
              </a:spcAft>
              <a:defRPr sz="1300">
                <a:solidFill>
                  <a:srgbClr val="1E1B4B"/>
                </a:solidFill>
                <a:latin typeface="Microsoft YaHei"/>
              </a:defRPr>
            </a:pPr>
            <a:r>
              <a:t>• 推荐结果关联到具体指南/文献/本院规范</a:t>
            </a:r>
          </a:p>
          <a:p>
            <a:pPr>
              <a:spcAft>
                <a:spcPts val="600"/>
              </a:spcAft>
              <a:defRPr sz="1300">
                <a:solidFill>
                  <a:srgbClr val="1E1B4B"/>
                </a:solidFill>
                <a:latin typeface="Microsoft YaHei"/>
              </a:defRPr>
            </a:pPr>
            <a:r>
              <a:t>• 规则引擎兜底 — 确定性逻辑零延迟执行</a:t>
            </a:r>
          </a:p>
          <a:p>
            <a:pPr>
              <a:spcAft>
                <a:spcPts val="600"/>
              </a:spcAft>
              <a:defRPr sz="1300">
                <a:solidFill>
                  <a:srgbClr val="1E1B4B"/>
                </a:solidFill>
                <a:latin typeface="Microsoft YaHei"/>
              </a:defRPr>
            </a:pPr>
            <a:r>
              <a:t>• 上下文感知 — 自动整合患者纵向病史和HIS数据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E1B4B"/>
                </a:solidFill>
                <a:latin typeface="Microsoft YaHei"/>
              </a:defRPr>
            </a:pPr>
            <a:r>
              <a:t>影像科方案 — 重塑报告工作流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338328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52400" lIns="152400" rIns="152400"/>
          <a:lstStyle/>
          <a:p>
            <a:pPr algn="ctr">
              <a:defRPr sz="1300" b="1">
                <a:solidFill>
                  <a:srgbClr val="6366F1"/>
                </a:solidFill>
                <a:latin typeface="Microsoft YaHei"/>
              </a:defRPr>
            </a:pPr>
            <a:r>
              <a:t>智能语音报告生成</a:t>
            </a:r>
          </a:p>
          <a:p>
            <a:pPr>
              <a:spcBef>
                <a:spcPts val="600"/>
              </a:spcBef>
              <a:defRPr sz="1100">
                <a:solidFill>
                  <a:srgbClr val="64748B"/>
                </a:solidFill>
                <a:latin typeface="Microsoft YaHei"/>
              </a:defRPr>
            </a:pPr>
            <a:r>
              <a:t>• 医学专有名词增强（FunASR优化）</a:t>
            </a:r>
            <a:br/>
            <a:r>
              <a:t>• 在线/离线双模切换</a:t>
            </a:r>
            <a:br/>
            <a:r>
              <a:t>• 报告编写时间缩短 60%+</a:t>
            </a:r>
            <a:br/>
            <a:r>
              <a:t>• MCOS: L1感知层 + L4执行层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89120" y="1645920"/>
            <a:ext cx="338328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52400" lIns="152400" rIns="152400"/>
          <a:lstStyle/>
          <a:p>
            <a:pPr algn="ctr">
              <a:defRPr sz="1300" b="1">
                <a:solidFill>
                  <a:srgbClr val="6366F1"/>
                </a:solidFill>
                <a:latin typeface="Microsoft YaHei"/>
              </a:defRPr>
            </a:pPr>
            <a:r>
              <a:t>智能双重防呆质控</a:t>
            </a:r>
          </a:p>
          <a:p>
            <a:pPr>
              <a:spcBef>
                <a:spcPts val="600"/>
              </a:spcBef>
              <a:defRPr sz="1100">
                <a:solidFill>
                  <a:srgbClr val="64748B"/>
                </a:solidFill>
                <a:latin typeface="Microsoft YaHei"/>
              </a:defRPr>
            </a:pPr>
            <a:r>
              <a:t>• 规则引擎毫秒级拦截（0.1s）</a:t>
            </a:r>
            <a:br/>
            <a:r>
              <a:t>• 大模型上下文一致性检查</a:t>
            </a:r>
            <a:br/>
            <a:r>
              <a:t>• 双重保障，互为补充</a:t>
            </a:r>
            <a:br/>
            <a:r>
              <a:t>• MCOS: L3认知层 + L5治理层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46720" y="1645920"/>
            <a:ext cx="338328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52400" lIns="152400" rIns="152400"/>
          <a:lstStyle/>
          <a:p>
            <a:pPr algn="ctr">
              <a:defRPr sz="1300" b="1">
                <a:solidFill>
                  <a:srgbClr val="6366F1"/>
                </a:solidFill>
                <a:latin typeface="Microsoft YaHei"/>
              </a:defRPr>
            </a:pPr>
            <a:r>
              <a:t>文本知识结构化抽取</a:t>
            </a:r>
          </a:p>
          <a:p>
            <a:pPr>
              <a:spcBef>
                <a:spcPts val="600"/>
              </a:spcBef>
              <a:defRPr sz="1100">
                <a:solidFill>
                  <a:srgbClr val="64748B"/>
                </a:solidFill>
                <a:latin typeface="Microsoft YaHei"/>
              </a:defRPr>
            </a:pPr>
            <a:r>
              <a:t>• 多维度实体抽取</a:t>
            </a:r>
            <a:br/>
            <a:r>
              <a:t>  （病灶部位/性质/大小/分级）</a:t>
            </a:r>
            <a:br/>
            <a:r>
              <a:t>• 赋能临床科研闭环</a:t>
            </a:r>
            <a:br/>
            <a:r>
              <a:t>• MCOS: L2上下文层 + L6进化层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0350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6366F1"/>
                </a:solidFill>
                <a:latin typeface="Microsoft YaHei"/>
              </a:defRPr>
            </a:pPr>
            <a:r>
              <a:t>&gt;98% 名词识别准确率  |  0.1s 规则拦截延迟  |  JSON 标准化资产产出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E1B4B"/>
                </a:solidFill>
                <a:latin typeface="Microsoft YaHei"/>
              </a:defRPr>
            </a:pPr>
            <a:r>
              <a:t>院内数据智能体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748B"/>
                </a:solidFill>
                <a:latin typeface="Microsoft YaHei"/>
              </a:defRPr>
            </a:pPr>
            <a:r>
              <a:t>自然语言输入 → 权限校验 → 语义理解 → 受控执行 → 结果呈现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1E1B4B"/>
                </a:solidFill>
                <a:latin typeface="Microsoft YaHei"/>
              </a:defRPr>
            </a:pPr>
            <a:r>
              <a:t>• 自然语言查询 — 支持中文自然语言提问</a:t>
            </a:r>
          </a:p>
          <a:p>
            <a:pPr>
              <a:spcAft>
                <a:spcPts val="600"/>
              </a:spcAft>
              <a:defRPr sz="1300">
                <a:solidFill>
                  <a:srgbClr val="1E1B4B"/>
                </a:solidFill>
                <a:latin typeface="Microsoft YaHei"/>
              </a:defRPr>
            </a:pPr>
            <a:r>
              <a:t>• MCP 工具链 — 基于 MCP 协议的工具编排</a:t>
            </a:r>
          </a:p>
          <a:p>
            <a:pPr>
              <a:spcAft>
                <a:spcPts val="600"/>
              </a:spcAft>
              <a:defRPr sz="1300">
                <a:solidFill>
                  <a:srgbClr val="1E1B4B"/>
                </a:solidFill>
                <a:latin typeface="Microsoft YaHei"/>
              </a:defRPr>
            </a:pPr>
            <a:r>
              <a:t>• Schema 感知 — 自动获取数据库表结构</a:t>
            </a:r>
          </a:p>
          <a:p>
            <a:pPr>
              <a:spcAft>
                <a:spcPts val="600"/>
              </a:spcAft>
              <a:defRPr sz="1300">
                <a:solidFill>
                  <a:srgbClr val="1E1B4B"/>
                </a:solidFill>
                <a:latin typeface="Microsoft YaHei"/>
              </a:defRPr>
            </a:pPr>
            <a:r>
              <a:t>• 智能可视化 — 查询结果自动选择最佳展示方式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0" y="182880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1E1B4B"/>
                </a:solidFill>
                <a:latin typeface="Microsoft YaHei"/>
              </a:defRPr>
            </a:pPr>
            <a:r>
              <a:t>安全与治理：</a:t>
            </a:r>
          </a:p>
          <a:p>
            <a:pPr>
              <a:spcAft>
                <a:spcPts val="600"/>
              </a:spcAft>
              <a:defRPr sz="1300">
                <a:solidFill>
                  <a:srgbClr val="1E1B4B"/>
                </a:solidFill>
                <a:latin typeface="Microsoft YaHei"/>
              </a:defRPr>
            </a:pPr>
            <a:r>
              <a:t>• 权限矩阵 — 基于角色的表/字段级访问控制</a:t>
            </a:r>
          </a:p>
          <a:p>
            <a:pPr>
              <a:spcAft>
                <a:spcPts val="600"/>
              </a:spcAft>
              <a:defRPr sz="1300">
                <a:solidFill>
                  <a:srgbClr val="1E1B4B"/>
                </a:solidFill>
                <a:latin typeface="Microsoft YaHei"/>
              </a:defRPr>
            </a:pPr>
            <a:r>
              <a:t>• 审计日志 — 完整记录每次查询</a:t>
            </a:r>
          </a:p>
          <a:p>
            <a:pPr>
              <a:spcAft>
                <a:spcPts val="600"/>
              </a:spcAft>
              <a:defRPr sz="1300">
                <a:solidFill>
                  <a:srgbClr val="1E1B4B"/>
                </a:solidFill>
                <a:latin typeface="Microsoft YaHei"/>
              </a:defRPr>
            </a:pPr>
            <a:r>
              <a:t>• SQL 安全沙箱 — 禁止 DELETE/UPDATE/DROP</a:t>
            </a:r>
          </a:p>
          <a:p>
            <a:pPr>
              <a:spcAft>
                <a:spcPts val="600"/>
              </a:spcAft>
              <a:defRPr sz="1300">
                <a:solidFill>
                  <a:srgbClr val="1E1B4B"/>
                </a:solidFill>
                <a:latin typeface="Microsoft YaHei"/>
              </a:defRPr>
            </a:pPr>
          </a:p>
          <a:p>
            <a:pPr>
              <a:spcAft>
                <a:spcPts val="600"/>
              </a:spcAft>
              <a:defRPr sz="1300">
                <a:solidFill>
                  <a:srgbClr val="1E1B4B"/>
                </a:solidFill>
                <a:latin typeface="Microsoft YaHei"/>
              </a:defRPr>
            </a:pPr>
            <a:r>
              <a:t>典型场景：</a:t>
            </a:r>
          </a:p>
          <a:p>
            <a:pPr>
              <a:spcAft>
                <a:spcPts val="600"/>
              </a:spcAft>
              <a:defRPr sz="1300">
                <a:solidFill>
                  <a:srgbClr val="1E1B4B"/>
                </a:solidFill>
                <a:latin typeface="Microsoft YaHei"/>
              </a:defRPr>
            </a:pPr>
            <a:r>
              <a:t>• 各科室门诊量对比</a:t>
            </a:r>
          </a:p>
          <a:p>
            <a:pPr>
              <a:spcAft>
                <a:spcPts val="600"/>
              </a:spcAft>
              <a:defRPr sz="1300">
                <a:solidFill>
                  <a:srgbClr val="1E1B4B"/>
                </a:solidFill>
                <a:latin typeface="Microsoft YaHei"/>
              </a:defRPr>
            </a:pPr>
            <a:r>
              <a:t>• 抗生素使用量 TOP10 科室</a:t>
            </a:r>
          </a:p>
          <a:p>
            <a:pPr>
              <a:spcAft>
                <a:spcPts val="600"/>
              </a:spcAft>
              <a:defRPr sz="1300">
                <a:solidFill>
                  <a:srgbClr val="1E1B4B"/>
                </a:solidFill>
                <a:latin typeface="Microsoft YaHei"/>
              </a:defRPr>
            </a:pPr>
            <a:r>
              <a:t>• ICU 平均住院日和床位利用率</a:t>
            </a:r>
          </a:p>
          <a:p>
            <a:pPr>
              <a:spcAft>
                <a:spcPts val="600"/>
              </a:spcAft>
              <a:defRPr sz="1300">
                <a:solidFill>
                  <a:srgbClr val="1E1B4B"/>
                </a:solidFill>
                <a:latin typeface="Microsoft YaHei"/>
              </a:defRPr>
            </a:pPr>
            <a:r>
              <a:t>• 非计划再入院率超标病区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E1B4B"/>
                </a:solidFill>
                <a:latin typeface="Microsoft YaHei"/>
              </a:defRPr>
            </a:pPr>
            <a:r>
              <a:t>部署方式与数据安全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3383280" cy="3474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52400" lIns="152400" rIns="152400"/>
          <a:lstStyle/>
          <a:p>
            <a:pPr algn="ctr">
              <a:defRPr sz="1300" b="1">
                <a:solidFill>
                  <a:srgbClr val="6366F1"/>
                </a:solidFill>
                <a:latin typeface="Microsoft YaHei"/>
              </a:defRPr>
            </a:pPr>
            <a:r>
              <a:t>院内私有化部署</a:t>
            </a:r>
          </a:p>
          <a:p>
            <a:pPr>
              <a:spcBef>
                <a:spcPts val="600"/>
              </a:spcBef>
              <a:defRPr sz="1100">
                <a:solidFill>
                  <a:srgbClr val="64748B"/>
                </a:solidFill>
                <a:latin typeface="Microsoft YaHei"/>
              </a:defRPr>
            </a:pPr>
            <a:r>
              <a:t>• 核心数据不出院墙</a:t>
            </a:r>
            <a:br/>
            <a:r>
              <a:t>• 支持国产算力（昇腾/海光）</a:t>
            </a:r>
            <a:br/>
            <a:r>
              <a:t>• Docker Compose 一键编排</a:t>
            </a:r>
            <a:br/>
            <a:r>
              <a:t>• 离线镜像打包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89120" y="1371600"/>
            <a:ext cx="3383280" cy="3474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52400" lIns="152400" rIns="152400"/>
          <a:lstStyle/>
          <a:p>
            <a:pPr algn="ctr">
              <a:defRPr sz="1300" b="1">
                <a:solidFill>
                  <a:srgbClr val="6366F1"/>
                </a:solidFill>
                <a:latin typeface="Microsoft YaHei"/>
              </a:defRPr>
            </a:pPr>
            <a:r>
              <a:t>混合云部署</a:t>
            </a:r>
          </a:p>
          <a:p>
            <a:pPr>
              <a:spcBef>
                <a:spcPts val="600"/>
              </a:spcBef>
              <a:defRPr sz="1100">
                <a:solidFill>
                  <a:srgbClr val="64748B"/>
                </a:solidFill>
                <a:latin typeface="Microsoft YaHei"/>
              </a:defRPr>
            </a:pPr>
            <a:r>
              <a:t>• 敏感数据本地处理</a:t>
            </a:r>
            <a:br/>
            <a:r>
              <a:t>• 非敏感能力云端加速</a:t>
            </a:r>
            <a:br/>
            <a:r>
              <a:t>• 灵活切换，按需配置</a:t>
            </a:r>
            <a:br/>
            <a:r>
              <a:t>• 双通道 AI 架构支撑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46720" y="1371600"/>
            <a:ext cx="3383280" cy="3474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52400" lIns="152400" rIns="152400"/>
          <a:lstStyle/>
          <a:p>
            <a:pPr algn="ctr">
              <a:defRPr sz="1300" b="1">
                <a:solidFill>
                  <a:srgbClr val="6366F1"/>
                </a:solidFill>
                <a:latin typeface="Microsoft YaHei"/>
              </a:defRPr>
            </a:pPr>
            <a:r>
              <a:t>非侵入式对接</a:t>
            </a:r>
          </a:p>
          <a:p>
            <a:pPr>
              <a:spcBef>
                <a:spcPts val="600"/>
              </a:spcBef>
              <a:defRPr sz="1100">
                <a:solidFill>
                  <a:srgbClr val="64748B"/>
                </a:solidFill>
                <a:latin typeface="Microsoft YaHei"/>
              </a:defRPr>
            </a:pPr>
            <a:r>
              <a:t>• 不改动原有系统架构</a:t>
            </a:r>
            <a:br/>
            <a:r>
              <a:t>• API 层对接 HIS/EMR/PACS</a:t>
            </a:r>
            <a:br/>
            <a:r>
              <a:t>• 渐进式接入，风险可控</a:t>
            </a:r>
            <a:br/>
            <a:r>
              <a:t>• 支持多厂商系统并存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0352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10B981"/>
                </a:solidFill>
                <a:latin typeface="Microsoft YaHei"/>
              </a:defRPr>
            </a:pPr>
            <a:r>
              <a:t>✓ 本地优先 — 核心数据不出院墙</a:t>
            </a:r>
          </a:p>
          <a:p>
            <a:pPr>
              <a:spcAft>
                <a:spcPts val="600"/>
              </a:spcAft>
              <a:defRPr sz="1400">
                <a:solidFill>
                  <a:srgbClr val="10B981"/>
                </a:solidFill>
                <a:latin typeface="Microsoft YaHei"/>
              </a:defRPr>
            </a:pPr>
            <a:r>
              <a:t>✓ 可控可审计 — 完整操作日志 + 权限分级</a:t>
            </a:r>
          </a:p>
          <a:p>
            <a:pPr>
              <a:spcAft>
                <a:spcPts val="600"/>
              </a:spcAft>
              <a:defRPr sz="1400">
                <a:solidFill>
                  <a:srgbClr val="10B981"/>
                </a:solidFill>
                <a:latin typeface="Microsoft YaHei"/>
              </a:defRPr>
            </a:pPr>
            <a:r>
              <a:t>✓ 无缝旧系统融合 — 非侵入式 API 对接</a:t>
            </a:r>
          </a:p>
          <a:p>
            <a:pPr>
              <a:spcAft>
                <a:spcPts val="600"/>
              </a:spcAft>
              <a:defRPr sz="1400">
                <a:solidFill>
                  <a:srgbClr val="10B981"/>
                </a:solidFill>
                <a:latin typeface="Microsoft YaHei"/>
              </a:defRPr>
            </a:pPr>
            <a:r>
              <a:t>✓ 资产可积累 — 知识沉淀为医院自有资产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E1B4B"/>
                </a:solidFill>
                <a:latin typeface="Microsoft YaHei"/>
              </a:defRPr>
            </a:pPr>
            <a:r>
              <a:t>90 天落地路径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6366F1"/>
                </a:solidFill>
                <a:latin typeface="Microsoft YaHei"/>
              </a:defRPr>
            </a:pPr>
            <a:r>
              <a:t>P1 · 第 1-30 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Microsoft YaHei"/>
              </a:defRPr>
            </a:pPr>
            <a:r>
              <a:t>基础接入 + 单场景验证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32918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1E1B4B"/>
                </a:solidFill>
                <a:latin typeface="Microsoft YaHei"/>
              </a:defRPr>
            </a:pPr>
            <a:r>
              <a:t>• 环境部署与网络对接</a:t>
            </a:r>
          </a:p>
          <a:p>
            <a:pPr>
              <a:spcAft>
                <a:spcPts val="600"/>
              </a:spcAft>
              <a:defRPr sz="1200">
                <a:solidFill>
                  <a:srgbClr val="1E1B4B"/>
                </a:solidFill>
                <a:latin typeface="Microsoft YaHei"/>
              </a:defRPr>
            </a:pPr>
            <a:r>
              <a:t>• HIS/EMR API 联调</a:t>
            </a:r>
          </a:p>
          <a:p>
            <a:pPr>
              <a:spcAft>
                <a:spcPts val="600"/>
              </a:spcAft>
              <a:defRPr sz="1200">
                <a:solidFill>
                  <a:srgbClr val="1E1B4B"/>
                </a:solidFill>
                <a:latin typeface="Microsoft YaHei"/>
              </a:defRPr>
            </a:pPr>
            <a:r>
              <a:t>• 选定 1 个科室试点</a:t>
            </a:r>
          </a:p>
          <a:p>
            <a:pPr>
              <a:spcAft>
                <a:spcPts val="600"/>
              </a:spcAft>
              <a:defRPr sz="1200">
                <a:solidFill>
                  <a:srgbClr val="1E1B4B"/>
                </a:solidFill>
                <a:latin typeface="Microsoft YaHei"/>
              </a:defRPr>
            </a:pPr>
            <a:r>
              <a:t>• 单场景功能验证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0" y="137160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6366F1"/>
                </a:solidFill>
                <a:latin typeface="Microsoft YaHei"/>
              </a:defRPr>
            </a:pPr>
            <a:r>
              <a:t>P2 · 第 31-60 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182880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Microsoft YaHei"/>
              </a:defRPr>
            </a:pPr>
            <a:r>
              <a:t>多场景扩展 + 治理层上线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2286000"/>
            <a:ext cx="32918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1E1B4B"/>
                </a:solidFill>
                <a:latin typeface="Microsoft YaHei"/>
              </a:defRPr>
            </a:pPr>
            <a:r>
              <a:t>• 扩展至 3+ 场景</a:t>
            </a:r>
          </a:p>
          <a:p>
            <a:pPr>
              <a:spcAft>
                <a:spcPts val="600"/>
              </a:spcAft>
              <a:defRPr sz="1200">
                <a:solidFill>
                  <a:srgbClr val="1E1B4B"/>
                </a:solidFill>
                <a:latin typeface="Microsoft YaHei"/>
              </a:defRPr>
            </a:pPr>
            <a:r>
              <a:t>• 权限矩阵配置</a:t>
            </a:r>
          </a:p>
          <a:p>
            <a:pPr>
              <a:spcAft>
                <a:spcPts val="600"/>
              </a:spcAft>
              <a:defRPr sz="1200">
                <a:solidFill>
                  <a:srgbClr val="1E1B4B"/>
                </a:solidFill>
                <a:latin typeface="Microsoft YaHei"/>
              </a:defRPr>
            </a:pPr>
            <a:r>
              <a:t>• 审计日志上线</a:t>
            </a:r>
          </a:p>
          <a:p>
            <a:pPr>
              <a:spcAft>
                <a:spcPts val="600"/>
              </a:spcAft>
              <a:defRPr sz="1200">
                <a:solidFill>
                  <a:srgbClr val="1E1B4B"/>
                </a:solidFill>
                <a:latin typeface="Microsoft YaHei"/>
              </a:defRPr>
            </a:pPr>
            <a:r>
              <a:t>• 规则引擎调优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0" y="137160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6366F1"/>
                </a:solidFill>
                <a:latin typeface="Microsoft YaHei"/>
              </a:defRPr>
            </a:pPr>
            <a:r>
              <a:t>P3 · 第 61-90 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0" y="182880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Microsoft YaHei"/>
              </a:defRPr>
            </a:pPr>
            <a:r>
              <a:t>全场景覆盖 + 进化层启动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0" y="2286000"/>
            <a:ext cx="32918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1E1B4B"/>
                </a:solidFill>
                <a:latin typeface="Microsoft YaHei"/>
              </a:defRPr>
            </a:pPr>
            <a:r>
              <a:t>• 8 大产品全面上线</a:t>
            </a:r>
          </a:p>
          <a:p>
            <a:pPr>
              <a:spcAft>
                <a:spcPts val="600"/>
              </a:spcAft>
              <a:defRPr sz="1200">
                <a:solidFill>
                  <a:srgbClr val="1E1B4B"/>
                </a:solidFill>
                <a:latin typeface="Microsoft YaHei"/>
              </a:defRPr>
            </a:pPr>
            <a:r>
              <a:t>• 知识库初始化</a:t>
            </a:r>
          </a:p>
          <a:p>
            <a:pPr>
              <a:spcAft>
                <a:spcPts val="600"/>
              </a:spcAft>
              <a:defRPr sz="1200">
                <a:solidFill>
                  <a:srgbClr val="1E1B4B"/>
                </a:solidFill>
                <a:latin typeface="Microsoft YaHei"/>
              </a:defRPr>
            </a:pPr>
            <a:r>
              <a:t>• 反馈学习机制启动</a:t>
            </a:r>
          </a:p>
          <a:p>
            <a:pPr>
              <a:spcAft>
                <a:spcPts val="600"/>
              </a:spcAft>
              <a:defRPr sz="1200">
                <a:solidFill>
                  <a:srgbClr val="1E1B4B"/>
                </a:solidFill>
                <a:latin typeface="Microsoft YaHei"/>
              </a:defRPr>
            </a:pPr>
            <a:r>
              <a:t>• 运营数据看板交付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943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6366F1"/>
                </a:solidFill>
                <a:latin typeface="Microsoft YaHei"/>
              </a:defRPr>
            </a:pPr>
            <a:r>
              <a:t>渐进式落地，每阶段可独立验收，风险可控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E1B4B"/>
                </a:solidFill>
                <a:latin typeface="Microsoft YaHei"/>
              </a:defRPr>
            </a:pPr>
            <a:r>
              <a:t>与现有方案对比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371600"/>
          <a:ext cx="1115568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2011680"/>
                <a:gridCol w="2011680"/>
                <a:gridCol w="2560320"/>
                <a:gridCol w="2743200"/>
              </a:tblGrid>
              <a:tr h="68580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维度</a:t>
                      </a:r>
                    </a:p>
                  </a:txBody>
                  <a:tcPr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单点工具</a:t>
                      </a:r>
                    </a:p>
                  </a:txBody>
                  <a:tcPr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传统CDSS</a:t>
                      </a:r>
                    </a:p>
                  </a:txBody>
                  <a:tcPr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通用Agent框架</a:t>
                      </a:r>
                    </a:p>
                  </a:txBody>
                  <a:tcPr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MCOS</a:t>
                      </a:r>
                    </a:p>
                  </a:txBody>
                  <a:tcPr>
                    <a:solidFill>
                      <a:srgbClr val="6366F1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B4B"/>
                          </a:solidFill>
                          <a:latin typeface="Microsoft YaHei"/>
                        </a:defRPr>
                      </a:pPr>
                      <a:r>
                        <a:t>场景覆盖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B4B"/>
                          </a:solidFill>
                          <a:latin typeface="Microsoft YaHei"/>
                        </a:defRPr>
                      </a:pPr>
                      <a:r>
                        <a:t>单一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B4B"/>
                          </a:solidFill>
                          <a:latin typeface="Microsoft YaHei"/>
                        </a:defRPr>
                      </a:pPr>
                      <a:r>
                        <a:t>有限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B4B"/>
                          </a:solidFill>
                          <a:latin typeface="Microsoft YaHei"/>
                        </a:defRPr>
                      </a:pPr>
                      <a:r>
                        <a:t>通用但缺医疗适配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6366F1"/>
                          </a:solidFill>
                          <a:latin typeface="Microsoft YaHei"/>
                        </a:defRPr>
                      </a:pPr>
                      <a:r>
                        <a:t>8个核心临床场景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B4B"/>
                          </a:solidFill>
                          <a:latin typeface="Microsoft YaHei"/>
                        </a:defRPr>
                      </a:pPr>
                      <a:r>
                        <a:t>治理能力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B4B"/>
                          </a:solidFill>
                          <a:latin typeface="Microsoft YaHei"/>
                        </a:defRPr>
                      </a:pPr>
                      <a:r>
                        <a:t>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B4B"/>
                          </a:solidFill>
                          <a:latin typeface="Microsoft YaHei"/>
                        </a:defRPr>
                      </a:pPr>
                      <a:r>
                        <a:t>基础审计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B4B"/>
                          </a:solidFill>
                          <a:latin typeface="Microsoft YaHei"/>
                        </a:defRPr>
                      </a:pPr>
                      <a:r>
                        <a:t>无医疗治理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6366F1"/>
                          </a:solidFill>
                          <a:latin typeface="Microsoft YaHei"/>
                        </a:defRPr>
                      </a:pPr>
                      <a:r>
                        <a:t>权限+审计+规则引擎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B4B"/>
                          </a:solidFill>
                          <a:latin typeface="Microsoft YaHei"/>
                        </a:defRPr>
                      </a:pPr>
                      <a:r>
                        <a:t>数据安全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B4B"/>
                          </a:solidFill>
                          <a:latin typeface="Microsoft YaHei"/>
                        </a:defRPr>
                      </a:pPr>
                      <a:r>
                        <a:t>依赖厂商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B4B"/>
                          </a:solidFill>
                          <a:latin typeface="Microsoft YaHei"/>
                        </a:defRPr>
                      </a:pPr>
                      <a:r>
                        <a:t>本地但封闭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B4B"/>
                          </a:solidFill>
                          <a:latin typeface="Microsoft YaHei"/>
                        </a:defRPr>
                      </a:pPr>
                      <a:r>
                        <a:t>云端为主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6366F1"/>
                          </a:solidFill>
                          <a:latin typeface="Microsoft YaHei"/>
                        </a:defRPr>
                      </a:pPr>
                      <a:r>
                        <a:t>本地优先+国产算力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B4B"/>
                          </a:solidFill>
                          <a:latin typeface="Microsoft YaHei"/>
                        </a:defRPr>
                      </a:pPr>
                      <a:r>
                        <a:t>系统集成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B4B"/>
                          </a:solidFill>
                          <a:latin typeface="Microsoft YaHei"/>
                        </a:defRPr>
                      </a:pPr>
                      <a:r>
                        <a:t>独立运行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B4B"/>
                          </a:solidFill>
                          <a:latin typeface="Microsoft YaHei"/>
                        </a:defRPr>
                      </a:pPr>
                      <a:r>
                        <a:t>深度耦合HIS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B4B"/>
                          </a:solidFill>
                          <a:latin typeface="Microsoft YaHei"/>
                        </a:defRPr>
                      </a:pPr>
                      <a:r>
                        <a:t>需大量定制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6366F1"/>
                          </a:solidFill>
                          <a:latin typeface="Microsoft YaHei"/>
                        </a:defRPr>
                      </a:pPr>
                      <a:r>
                        <a:t>非侵入式对接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B4B"/>
                          </a:solidFill>
                          <a:latin typeface="Microsoft YaHei"/>
                        </a:defRPr>
                      </a:pPr>
                      <a:r>
                        <a:t>知识积累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B4B"/>
                          </a:solidFill>
                          <a:latin typeface="Microsoft YaHei"/>
                        </a:defRPr>
                      </a:pPr>
                      <a:r>
                        <a:t>不可积累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B4B"/>
                          </a:solidFill>
                          <a:latin typeface="Microsoft YaHei"/>
                        </a:defRPr>
                      </a:pPr>
                      <a:r>
                        <a:t>手动维护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B4B"/>
                          </a:solidFill>
                          <a:latin typeface="Microsoft YaHei"/>
                        </a:defRPr>
                      </a:pPr>
                      <a:r>
                        <a:t>无组织级沉淀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6366F1"/>
                          </a:solidFill>
                          <a:latin typeface="Microsoft YaHei"/>
                        </a:defRPr>
                      </a:pPr>
                      <a:r>
                        <a:t>自动经验萃取+反馈学习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E1B4B"/>
                </a:solidFill>
                <a:latin typeface="Microsoft YaHei"/>
              </a:defRPr>
            </a:pPr>
            <a:r>
              <a:t>关键指标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6366F1"/>
                </a:solidFill>
                <a:latin typeface="Microsoft YaHei"/>
              </a:defRPr>
            </a:pPr>
            <a:r>
              <a:t>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5603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4748B"/>
                </a:solidFill>
                <a:latin typeface="Microsoft YaHei"/>
              </a:defRPr>
            </a:pPr>
            <a:r>
              <a:t>核心产品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0" y="164592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6366F1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0" y="25603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4748B"/>
                </a:solidFill>
                <a:latin typeface="Microsoft YaHei"/>
              </a:defRPr>
            </a:pPr>
            <a:r>
              <a:t>覆盖科室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64592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6366F1"/>
                </a:solidFill>
                <a:latin typeface="Microsoft YaHei"/>
              </a:defRPr>
            </a:pPr>
            <a:r>
              <a:t>90天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25603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4748B"/>
                </a:solidFill>
                <a:latin typeface="Microsoft YaHei"/>
              </a:defRPr>
            </a:pPr>
            <a:r>
              <a:t>落地周期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164592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6366F1"/>
                </a:solidFill>
                <a:latin typeface="Microsoft YaHei"/>
              </a:defRPr>
            </a:pPr>
            <a:r>
              <a:t>60%+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0" y="25603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4748B"/>
                </a:solidFill>
                <a:latin typeface="Microsoft YaHei"/>
              </a:defRPr>
            </a:pPr>
            <a:r>
              <a:t>效率提升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93192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6366F1"/>
                </a:solidFill>
                <a:latin typeface="Microsoft YaHei"/>
              </a:defRPr>
            </a:pPr>
            <a:r>
              <a:t>&gt;98%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8463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4748B"/>
                </a:solidFill>
                <a:latin typeface="Microsoft YaHei"/>
              </a:defRPr>
            </a:pPr>
            <a:r>
              <a:t>名词识别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393192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6366F1"/>
                </a:solidFill>
                <a:latin typeface="Microsoft YaHei"/>
              </a:defRPr>
            </a:pPr>
            <a:r>
              <a:t>0.1s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48463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4748B"/>
                </a:solidFill>
                <a:latin typeface="Microsoft YaHei"/>
              </a:defRPr>
            </a:pPr>
            <a:r>
              <a:t>规则拦截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393192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6366F1"/>
                </a:solidFill>
                <a:latin typeface="Microsoft YaHei"/>
              </a:defRPr>
            </a:pPr>
            <a:r>
              <a:t>200+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48463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4748B"/>
                </a:solidFill>
                <a:latin typeface="Microsoft YaHei"/>
              </a:defRPr>
            </a:pPr>
            <a:r>
              <a:t>ACR场景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0" y="393192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6366F1"/>
                </a:solidFill>
                <a:latin typeface="Microsoft YaHei"/>
              </a:defRPr>
            </a:pPr>
            <a:r>
              <a:t>58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0" y="48463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4748B"/>
                </a:solidFill>
                <a:latin typeface="Microsoft YaHei"/>
              </a:defRPr>
            </a:pPr>
            <a:r>
              <a:t>测试用例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B4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3716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Microsoft YaHei"/>
              </a:defRPr>
            </a:pPr>
            <a:r>
              <a:t>为什么选择 MCOS？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86000" y="25603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Microsoft YaHei"/>
              </a:defRPr>
            </a:pPr>
            <a:r>
              <a:t>✓  统一编排 — 医生只需面对一个系统入口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0" y="320040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Microsoft YaHei"/>
              </a:defRPr>
            </a:pPr>
            <a:r>
              <a:t>✓  内建治理 — 权限分级、审计链、规则引擎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0" y="3840479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Microsoft YaHei"/>
              </a:defRPr>
            </a:pPr>
            <a:r>
              <a:t>✓  本地优先 — 核心数据不出院墙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0" y="4480559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Microsoft YaHei"/>
              </a:defRPr>
            </a:pPr>
            <a:r>
              <a:t>✓  持续进化 — 系统越用越懂本院业务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0" y="512064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Microsoft YaHei"/>
              </a:defRPr>
            </a:pPr>
            <a:r>
              <a:t>✓  90天落地 — 渐进式部署，每阶段可独立验收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56692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6B6D4"/>
                </a:solidFill>
                <a:latin typeface="Microsoft YaHei"/>
              </a:defRPr>
            </a:pPr>
            <a:r>
              <a:t>让我们一起，构建系统级医疗人工智能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